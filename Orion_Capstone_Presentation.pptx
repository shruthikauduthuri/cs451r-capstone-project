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4" r:id="rId15"/>
    <p:sldId id="260" r:id="rId11"/>
    <p:sldId id="265" r:id="rId16"/>
    <p:sldId id="261" r:id="rId12"/>
    <p:sldId id="266" r:id="rId17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88920" y="164592"/>
            <a:ext cx="59436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000" b="0" i="0">
                <a:solidFill>
                  <a:srgbClr val="152744"/>
                </a:solidFill>
                <a:latin typeface="Courier New"/>
              </a:rPr>
              <a:t>Ayan Agayeva, Berenice Moreno-Perez,
Montana Nicholson, Shruthika Uduthuri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164592"/>
            <a:ext cx="22860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1000" b="0" i="0">
                <a:solidFill>
                  <a:srgbClr val="152744"/>
                </a:solidFill>
                <a:latin typeface="Courier New"/>
              </a:rPr>
              <a:t>April 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200" b="0" i="0">
                <a:solidFill>
                  <a:srgbClr val="152744"/>
                </a:solidFill>
                <a:latin typeface="Calibri"/>
              </a:rPr>
              <a:t>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200" b="0" i="0">
                <a:solidFill>
                  <a:srgbClr val="152744"/>
                </a:solidFill>
                <a:latin typeface="Calibri"/>
              </a:rPr>
              <a:t>Project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64008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ourier New"/>
              </a:rPr>
              <a:t>CS451R_Software_Engineering_Capstone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822960"/>
            <a:ext cx="4114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7200" b="0" i="0">
                <a:solidFill>
                  <a:srgbClr val="C5D8EC"/>
                </a:solidFill>
                <a:latin typeface="Calibri"/>
              </a:rPr>
              <a:t>ORION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0584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4400" b="0" i="0">
                <a:solidFill>
                  <a:srgbClr val="152744"/>
                </a:solidFill>
                <a:latin typeface="Calibri"/>
              </a:rPr>
              <a:t>Team &amp;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2651760" cy="46634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651760" cy="5029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0140" y="1737360"/>
            <a:ext cx="1508760" cy="1508760"/>
          </a:xfrm>
          <a:prstGeom prst="rect">
            <a:avLst/>
          </a:prstGeom>
          <a:solidFill>
            <a:srgbClr val="C5D8EC"/>
          </a:solidFill>
          <a:ln w="6350">
            <a:solidFill>
              <a:srgbClr val="6E9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" y="1737360"/>
            <a:ext cx="1508760" cy="150876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ctr"/>
            <a:r>
              <a:rPr sz="3200" b="0" i="0">
                <a:solidFill>
                  <a:srgbClr val="152744"/>
                </a:solidFill>
                <a:latin typeface="Calibri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47287"/>
            <a:ext cx="2066543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 i="0">
                <a:solidFill>
                  <a:srgbClr val="152744"/>
                </a:solidFill>
                <a:latin typeface="Calibri"/>
              </a:rPr>
              <a:t>Ayan Agayeva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87368"/>
            <a:ext cx="2066543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2563A8"/>
                </a:solidFill>
                <a:latin typeface="Calibri"/>
              </a:rPr>
              <a:t>Front-End Developer &amp;
Project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00016"/>
            <a:ext cx="2066543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4A6882"/>
                </a:solidFill>
                <a:latin typeface="Calibri"/>
              </a:rPr>
              <a:t>Leads UI development and project coordination. Builds the React interface and manages sprint planning.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572768"/>
            <a:ext cx="2651760" cy="46634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51760" cy="5029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45635" y="1737360"/>
            <a:ext cx="1508760" cy="1508760"/>
          </a:xfrm>
          <a:prstGeom prst="rect">
            <a:avLst/>
          </a:prstGeom>
          <a:solidFill>
            <a:srgbClr val="C5D8EC"/>
          </a:solidFill>
          <a:ln w="6350">
            <a:solidFill>
              <a:srgbClr val="6E9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5635" y="1737360"/>
            <a:ext cx="1508760" cy="150876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ctr"/>
            <a:r>
              <a:rPr sz="3200" b="0" i="0">
                <a:solidFill>
                  <a:srgbClr val="152744"/>
                </a:solidFill>
                <a:latin typeface="Calibri"/>
              </a:rPr>
              <a:t>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447287"/>
            <a:ext cx="2066543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 i="0">
                <a:solidFill>
                  <a:srgbClr val="152744"/>
                </a:solidFill>
                <a:latin typeface="Calibri"/>
              </a:rPr>
              <a:t>Berenice
Moreno-Perez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4087368"/>
            <a:ext cx="2066543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2563A8"/>
                </a:solidFill>
                <a:latin typeface="Calibri"/>
              </a:rPr>
              <a:t>Database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4700016"/>
            <a:ext cx="2066543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4A6882"/>
                </a:solidFill>
                <a:latin typeface="Calibri"/>
              </a:rPr>
              <a:t>Designs the database schema, manages data models, and ensures efficient and scalable data storage.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1" y="1572768"/>
            <a:ext cx="2651760" cy="46634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1" y="1572768"/>
            <a:ext cx="2651760" cy="5029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1131" y="1737360"/>
            <a:ext cx="1508760" cy="1508760"/>
          </a:xfrm>
          <a:prstGeom prst="rect">
            <a:avLst/>
          </a:prstGeom>
          <a:solidFill>
            <a:srgbClr val="C5D8EC"/>
          </a:solidFill>
          <a:ln w="6350">
            <a:solidFill>
              <a:srgbClr val="6E9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1131" y="1737360"/>
            <a:ext cx="1508760" cy="150876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ctr"/>
            <a:r>
              <a:rPr sz="3200" b="0" i="0">
                <a:solidFill>
                  <a:srgbClr val="152744"/>
                </a:solidFill>
                <a:latin typeface="Calibri"/>
              </a:rPr>
              <a:t>MN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47287"/>
            <a:ext cx="2066543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 i="0">
                <a:solidFill>
                  <a:srgbClr val="152744"/>
                </a:solidFill>
                <a:latin typeface="Calibri"/>
              </a:rPr>
              <a:t>Montana Nicholson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87368"/>
            <a:ext cx="2066543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2563A8"/>
                </a:solidFill>
                <a:latin typeface="Calibri"/>
              </a:rPr>
              <a:t>Backend Developer
w/ API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00016"/>
            <a:ext cx="2066543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4A6882"/>
                </a:solidFill>
                <a:latin typeface="Calibri"/>
              </a:rPr>
              <a:t>Builds the server-side logic and RESTful API endpoints that connect the frontend to the database.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572768"/>
            <a:ext cx="2651760" cy="46634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25128" y="1572768"/>
            <a:ext cx="2651760" cy="5029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96628" y="1737360"/>
            <a:ext cx="1508760" cy="1508760"/>
          </a:xfrm>
          <a:prstGeom prst="rect">
            <a:avLst/>
          </a:prstGeom>
          <a:solidFill>
            <a:srgbClr val="C5D8EC"/>
          </a:solidFill>
          <a:ln w="6350">
            <a:solidFill>
              <a:srgbClr val="6E9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96628" y="1737360"/>
            <a:ext cx="1508760" cy="150876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ctr"/>
            <a:r>
              <a:rPr sz="3200" b="0" i="0">
                <a:solidFill>
                  <a:srgbClr val="152744"/>
                </a:solidFill>
                <a:latin typeface="Calibri"/>
              </a:rPr>
              <a:t>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3447287"/>
            <a:ext cx="2066543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 i="0">
                <a:solidFill>
                  <a:srgbClr val="152744"/>
                </a:solidFill>
                <a:latin typeface="Calibri"/>
              </a:rPr>
              <a:t>Shruthika Uduthuri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4087368"/>
            <a:ext cx="2066543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2563A8"/>
                </a:solidFill>
                <a:latin typeface="Calibri"/>
              </a:rPr>
              <a:t>Backend Developer
w/ LLM 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4700016"/>
            <a:ext cx="2066543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4A6882"/>
                </a:solidFill>
                <a:latin typeface="Calibri"/>
              </a:rPr>
              <a:t>Builds the back-end of the application and integrates large language model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4000" b="0" i="0">
                <a:solidFill>
                  <a:srgbClr val="152744"/>
                </a:solidFill>
                <a:latin typeface="Calibri"/>
              </a:rPr>
              <a:t>Application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83112" cy="8046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4A6882"/>
                </a:solidFill>
                <a:latin typeface="Calibri"/>
              </a:rPr>
              <a:t>Orion is a role-based household budgeting platform designed for families, partners, and roommates to collaboratively manage their finances in a single shared environment. Built with React and an API-ready architecture, Orion is designed to scale from a local prototype to a fully cloud-backed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50592"/>
            <a:ext cx="3657600" cy="1572768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450592"/>
            <a:ext cx="365760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542032"/>
            <a:ext cx="307238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26080"/>
            <a:ext cx="3072384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Real-time financial overview — total income, expenses, net savings, budget utilization, and spending by category.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450592"/>
            <a:ext cx="3657600" cy="1572768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2450592"/>
            <a:ext cx="365760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542032"/>
            <a:ext cx="307238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926080"/>
            <a:ext cx="3072384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Add and track income and expense entries with type, amount, category, date, and description fields.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2168" y="2450592"/>
            <a:ext cx="3657600" cy="1572768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2168" y="2450592"/>
            <a:ext cx="365760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2542032"/>
            <a:ext cx="307238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926080"/>
            <a:ext cx="3072384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Create and manage custom budgeting categories. Transactions auto-reassign when a category is removed.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3657600" cy="1572768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365760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251959"/>
            <a:ext cx="307238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Savings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636008"/>
            <a:ext cx="3072384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Define savings targets, contribute funds, and track cumulative progress toward each goal.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2544" y="4160520"/>
            <a:ext cx="3657600" cy="1572768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52544" y="4160520"/>
            <a:ext cx="365760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4251959"/>
            <a:ext cx="307238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Household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636008"/>
            <a:ext cx="3072384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Create or join a shared household via generated join codes. Assign roles: Admin, Partner, Roommate, Child.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4160520"/>
            <a:ext cx="3657600" cy="1572768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8" y="4160520"/>
            <a:ext cx="365760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776" y="4251959"/>
            <a:ext cx="307238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API-Ready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4636008"/>
            <a:ext cx="3072384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Layered design isolates the UI from the API layer — backend integration requires no frontend rewrites.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4000" b="0" i="0">
                <a:solidFill>
                  <a:srgbClr val="152744"/>
                </a:solidFill>
                <a:latin typeface="Calibri"/>
              </a:rPr>
              <a:t>User Types &amp;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36192"/>
            <a:ext cx="2633472" cy="475488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2633472" cy="822960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0482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9967"/>
            <a:ext cx="20482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950" b="0" i="1">
                <a:solidFill>
                  <a:srgbClr val="C0D8F0"/>
                </a:solidFill>
                <a:latin typeface="Courier New"/>
              </a:rPr>
              <a:t>Full household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496312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Full household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2633472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209544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Invite members via join codes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346704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7" y="3922776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Manage all categories &amp; 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4059935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7" y="4636008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Complete financial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773168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7" y="5349240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Set &amp; track household savings goals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5486400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1536192"/>
            <a:ext cx="2633472" cy="475488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1536192"/>
            <a:ext cx="2633472" cy="822960"/>
          </a:xfrm>
          <a:prstGeom prst="rect">
            <a:avLst/>
          </a:prstGeom>
          <a:solidFill>
            <a:srgbClr val="1A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1627632"/>
            <a:ext cx="20482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2029967"/>
            <a:ext cx="20482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950" b="0" i="1">
                <a:solidFill>
                  <a:srgbClr val="C0D8F0"/>
                </a:solidFill>
                <a:latin typeface="Courier New"/>
              </a:rPr>
              <a:t>Shared financial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2496312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Add and manage own transactions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2633472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3209544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View shared household 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0168" y="3346704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3922776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Contribute to savings goals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0168" y="4059935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4636008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Manage personal 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0168" y="4773168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1536192"/>
            <a:ext cx="2633472" cy="475488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1536192"/>
            <a:ext cx="2633472" cy="82296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627632"/>
            <a:ext cx="20482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Roommate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029967"/>
            <a:ext cx="20482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950" b="0" i="1">
                <a:solidFill>
                  <a:srgbClr val="C0D8F0"/>
                </a:solidFill>
                <a:latin typeface="Courier New"/>
              </a:rPr>
              <a:t>Expense coordination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2496312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Track personal expenses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2633472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209544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View shared household expenses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3346704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922776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Add to shared categories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3368" y="4059935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4636008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Contribute to savings goals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4773168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23960" y="1536192"/>
            <a:ext cx="2633472" cy="475488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23960" y="1536192"/>
            <a:ext cx="2633472" cy="822960"/>
          </a:xfrm>
          <a:prstGeom prst="rect">
            <a:avLst/>
          </a:prstGeom>
          <a:solidFill>
            <a:srgbClr val="3A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16568" y="1627632"/>
            <a:ext cx="20482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Child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6568" y="2029967"/>
            <a:ext cx="20482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950" b="0" i="1">
                <a:solidFill>
                  <a:srgbClr val="C0D8F0"/>
                </a:solidFill>
                <a:latin typeface="Courier New"/>
              </a:rPr>
              <a:t>Financial literacy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728" y="2496312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View personal savings goals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16568" y="2633472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3209544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Track progress toward targets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16568" y="3346704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53728" y="3922776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Limited read-only access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16568" y="4059935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3728" y="4636008"/>
            <a:ext cx="186537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alibri"/>
              </a:rPr>
              <a:t>Builds early financial habits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16568" y="4773168"/>
            <a:ext cx="73152" cy="73152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4000" b="0" i="0">
                <a:solidFill>
                  <a:srgbClr val="152744"/>
                </a:solidFill>
                <a:latin typeface="Calibri"/>
              </a:rPr>
              <a:t>Technical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5212080" cy="475488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21208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0200"/>
            <a:ext cx="4626864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1" i="0">
                <a:solidFill>
                  <a:srgbClr val="152744"/>
                </a:solidFill>
                <a:latin typeface="Calibri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84831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084831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React 18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542032"/>
            <a:ext cx="462686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15184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615184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React Router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072384"/>
            <a:ext cx="462686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145535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145535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useOrionStore (custom React hook)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602735"/>
            <a:ext cx="462686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75887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675887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localStorage → PostgreSQL (planned)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" y="4133087"/>
            <a:ext cx="462686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206240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Styling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206240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Inline styles, component-scoped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4663440"/>
            <a:ext cx="462686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736592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API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" y="4736592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services/api.js — REST-ready endpoints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5193792"/>
            <a:ext cx="462686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266944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5266944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Budget intelligence (planned)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" y="5724144"/>
            <a:ext cx="462686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797296"/>
            <a:ext cx="137160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6E94B8"/>
                </a:solidFill>
                <a:latin typeface="Courier New"/>
              </a:rPr>
              <a:t>Auth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797296"/>
            <a:ext cx="3163824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152744"/>
                </a:solidFill>
                <a:latin typeface="Calibri"/>
              </a:rPr>
              <a:t>Role-based authentication (planned)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07608" y="1536192"/>
            <a:ext cx="5678424" cy="475488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07608" y="1536192"/>
            <a:ext cx="5678424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1600200"/>
            <a:ext cx="5093208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1" i="0">
                <a:solidFill>
                  <a:srgbClr val="152744"/>
                </a:solidFill>
                <a:latin typeface="Calibri"/>
              </a:rPr>
              <a:t>Architecture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216" y="2084831"/>
            <a:ext cx="5093208" cy="603504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212140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1" i="0">
                <a:solidFill>
                  <a:srgbClr val="2563A8"/>
                </a:solidFill>
                <a:latin typeface="Calibri"/>
              </a:rPr>
              <a:t>UI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2395727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4A6882"/>
                </a:solidFill>
                <a:latin typeface="Courier New"/>
              </a:rPr>
              <a:t>Dashboard · Transactions · Categories · Savings · Household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3940" y="2697479"/>
            <a:ext cx="36576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0" i="0">
                <a:solidFill>
                  <a:srgbClr val="6E94B8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216" y="2907791"/>
            <a:ext cx="5093208" cy="603504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9944" y="294436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1" i="0">
                <a:solidFill>
                  <a:srgbClr val="2563A8"/>
                </a:solidFill>
                <a:latin typeface="Calibri"/>
              </a:rPr>
              <a:t>Components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3218687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4A6882"/>
                </a:solidFill>
                <a:latin typeface="Courier New"/>
              </a:rPr>
              <a:t>SummaryCards · CategoryBreakdown · RecentTransactions · SavingsGoals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3940" y="3520439"/>
            <a:ext cx="36576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0" i="0">
                <a:solidFill>
                  <a:srgbClr val="6E94B8"/>
                </a:solidFill>
                <a:latin typeface="Calibri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0216" y="3730752"/>
            <a:ext cx="5093208" cy="603504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376732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1" i="0">
                <a:solidFill>
                  <a:srgbClr val="2563A8"/>
                </a:solidFill>
                <a:latin typeface="Calibri"/>
              </a:rPr>
              <a:t>API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404164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4A6882"/>
                </a:solidFill>
                <a:latin typeface="Courier New"/>
              </a:rPr>
              <a:t>services/api.js — simulated REST endpoints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3940" y="4343400"/>
            <a:ext cx="36576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0" i="0">
                <a:solidFill>
                  <a:srgbClr val="6E94B8"/>
                </a:solidFill>
                <a:latin typeface="Calibr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216" y="4553712"/>
            <a:ext cx="5093208" cy="603504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9944" y="459028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1" i="0">
                <a:solidFill>
                  <a:srgbClr val="2563A8"/>
                </a:solidFill>
                <a:latin typeface="Calibri"/>
              </a:rPr>
              <a:t>Shared 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9944" y="486460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4A6882"/>
                </a:solidFill>
                <a:latin typeface="Courier New"/>
              </a:rPr>
              <a:t>useOrionStore.js — global React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63940" y="5166360"/>
            <a:ext cx="36576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0" i="0">
                <a:solidFill>
                  <a:srgbClr val="6E94B8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0216" y="5376672"/>
            <a:ext cx="5093208" cy="603504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9944" y="541324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1" i="0">
                <a:solidFill>
                  <a:srgbClr val="2563A8"/>
                </a:solidFill>
                <a:latin typeface="Calibri"/>
              </a:rPr>
              <a:t>LocalStorage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9944" y="5687568"/>
            <a:ext cx="491032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4A6882"/>
                </a:solidFill>
                <a:latin typeface="Courier New"/>
              </a:rPr>
              <a:t>categories_v1 · transactions_v1 · goals_v1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4000" b="0" i="0">
                <a:solidFill>
                  <a:srgbClr val="152744"/>
                </a:solidFill>
                <a:latin typeface="Calibri"/>
              </a:rPr>
              <a:t>Prototype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5440680" cy="4736592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44068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0200"/>
            <a:ext cx="485546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Implemented  —  Sprint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194560"/>
            <a:ext cx="5486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12264"/>
            <a:ext cx="4626864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23160"/>
            <a:ext cx="462686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Financial overview — income, expenses, net savings, utilization.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907792"/>
            <a:ext cx="5486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825496"/>
            <a:ext cx="4626864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136392"/>
            <a:ext cx="462686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Add and remove transactions with full metadata fields.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3621024"/>
            <a:ext cx="5486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538728"/>
            <a:ext cx="4626864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849624"/>
            <a:ext cx="462686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Create/delete custom categories with auto-reassignment.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4334256"/>
            <a:ext cx="5486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251959"/>
            <a:ext cx="4626864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Savings Goals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62856"/>
            <a:ext cx="462686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Define goals, contribute funds, track progress.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" y="5047488"/>
            <a:ext cx="5486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965192"/>
            <a:ext cx="4626864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Household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5276088"/>
            <a:ext cx="462686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Create, join, and assign roles within a shared household.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5760720"/>
            <a:ext cx="54864" cy="5486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678424"/>
            <a:ext cx="4626864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Data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989320"/>
            <a:ext cx="4626864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Data survives page refresh via localStorage.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1536192"/>
            <a:ext cx="5449824" cy="4736592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6208" y="1536192"/>
            <a:ext cx="5449824" cy="41148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1600200"/>
            <a:ext cx="4864608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152744"/>
                </a:solidFill>
                <a:latin typeface="Calibri"/>
              </a:rPr>
              <a:t>Coming Soon  —  Design Mockups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2057400"/>
            <a:ext cx="4864608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2103120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2563A8"/>
                </a:solidFill>
                <a:latin typeface="Calibri"/>
              </a:rPr>
              <a:t>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6" y="2404872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Login, registration, and session management.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2862072"/>
            <a:ext cx="4864608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2907791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2563A8"/>
                </a:solidFill>
                <a:latin typeface="Calibri"/>
              </a:rPr>
              <a:t>LLM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5976" y="3209544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AI-powered budget recommendations.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8816" y="3666744"/>
            <a:ext cx="4864608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5976" y="3712463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2563A8"/>
                </a:solidFill>
                <a:latin typeface="Calibri"/>
              </a:rPr>
              <a:t>Analytics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5976" y="4014215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Spending trends and visual reports.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8816" y="4471416"/>
            <a:ext cx="4864608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5976" y="4517136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2563A8"/>
                </a:solidFill>
                <a:latin typeface="Calibri"/>
              </a:rPr>
              <a:t>Database 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976" y="4818888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PostgreSQL with full multi-user persistence.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8816" y="5276088"/>
            <a:ext cx="4864608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5976" y="5321807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2563A8"/>
                </a:solidFill>
                <a:latin typeface="Calibri"/>
              </a:rPr>
              <a:t>Mobile Layout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5976" y="5623559"/>
            <a:ext cx="4681728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Responsive design for phones and tablets.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5989320"/>
            <a:ext cx="4864608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50" b="0" i="1">
                <a:solidFill>
                  <a:srgbClr val="A8BDD0"/>
                </a:solidFill>
                <a:latin typeface="Courier New"/>
              </a:rPr>
              <a:t>Figma screens available for all unimplemented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4000" b="0" i="0">
                <a:solidFill>
                  <a:srgbClr val="152744"/>
                </a:solidFill>
                <a:latin typeface="Calibri"/>
              </a:rPr>
              <a:t>Documentation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3566160" cy="21488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56616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298094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029967"/>
            <a:ext cx="298094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Functional &amp; non-functional 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231136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15184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User role definitions and permissions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2715768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99816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Sprint 1 scope and acceptance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3200400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1104" y="1536192"/>
            <a:ext cx="3566160" cy="21488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1536192"/>
            <a:ext cx="356616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627632"/>
            <a:ext cx="298094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Design Document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2029967"/>
            <a:ext cx="298094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4" y="2130552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Application architecture diagram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2231136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2615184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Component hierarchy &amp; data 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2715768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3099816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Database schema (ER diagram)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3712" y="3200400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9288" y="1536192"/>
            <a:ext cx="3566160" cy="21488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9288" y="1536192"/>
            <a:ext cx="356616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1627632"/>
            <a:ext cx="298094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User Stories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11896" y="2029967"/>
            <a:ext cx="298094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2130552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Stories for all 4 user roles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1896" y="2231136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2615184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Acceptance criteria per 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11896" y="2715768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3099816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Priority ranking (MoSCoW)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1896" y="3200400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822191"/>
            <a:ext cx="3566160" cy="21488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822191"/>
            <a:ext cx="356616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3913631"/>
            <a:ext cx="298094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API Specification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" y="4315968"/>
            <a:ext cx="298094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4416552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Endpoint definitions (GET/POST/PATCH/DELETE)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" y="4517136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901184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Request &amp; response schemas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" y="5001768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385816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Auth flow (planned)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8" y="5486400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61104" y="3822191"/>
            <a:ext cx="3566160" cy="21488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61104" y="3822191"/>
            <a:ext cx="356616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913631"/>
            <a:ext cx="298094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Test Plan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53712" y="4315968"/>
            <a:ext cx="298094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4416552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Unit test coverage targets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53712" y="4517136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4901184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Integration test scenarios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53712" y="5001768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5385816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Manual QA checklist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53712" y="5486400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19288" y="3822191"/>
            <a:ext cx="3566160" cy="2148840"/>
          </a:xfrm>
          <a:prstGeom prst="rect">
            <a:avLst/>
          </a:prstGeom>
          <a:solidFill>
            <a:srgbClr val="FAFCFF"/>
          </a:solidFill>
          <a:ln w="10160">
            <a:solidFill>
              <a:srgbClr val="C5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19288" y="3822191"/>
            <a:ext cx="3566160" cy="4114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3913631"/>
            <a:ext cx="2980944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50" b="1" i="0">
                <a:solidFill>
                  <a:srgbClr val="152744"/>
                </a:solidFill>
                <a:latin typeface="Calibri"/>
              </a:rPr>
              <a:t>Project Docs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11896" y="4315968"/>
            <a:ext cx="2980944" cy="7315"/>
          </a:xfrm>
          <a:prstGeom prst="rect">
            <a:avLst/>
          </a:prstGeom>
          <a:solidFill>
            <a:srgbClr val="C5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76488" y="4416552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Codebase README &amp; setup guide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11896" y="4517136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76488" y="4901184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Sprint retrospectives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11896" y="5001768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76488" y="5385816"/>
            <a:ext cx="2779775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50" b="0" i="0">
                <a:solidFill>
                  <a:srgbClr val="4A6882"/>
                </a:solidFill>
                <a:latin typeface="Calibri"/>
              </a:rPr>
              <a:t>Tech stack decision log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11896" y="5486400"/>
            <a:ext cx="54864" cy="54864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88920" y="164592"/>
            <a:ext cx="59436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000" b="0" i="0">
                <a:solidFill>
                  <a:srgbClr val="152744"/>
                </a:solidFill>
                <a:latin typeface="Courier New"/>
              </a:rPr>
              <a:t>Ayan Agayeva, Berenice Moreno-Perez,
Montana Nicholson, Shruthika Uduthuri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164592"/>
            <a:ext cx="22860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1000" b="0" i="0">
                <a:solidFill>
                  <a:srgbClr val="152744"/>
                </a:solidFill>
                <a:latin typeface="Courier New"/>
              </a:rPr>
              <a:t>April 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82296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200" b="0" i="0">
                <a:solidFill>
                  <a:srgbClr val="152744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8229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200" b="0" i="0">
                <a:solidFill>
                  <a:srgbClr val="6E94B8"/>
                </a:solidFill>
                <a:latin typeface="Calibri"/>
              </a:rPr>
              <a:t>Questions?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13632"/>
            <a:ext cx="5029200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11183112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 i="0">
                <a:solidFill>
                  <a:srgbClr val="4A6882"/>
                </a:solidFill>
                <a:latin typeface="Courier New"/>
              </a:rPr>
              <a:t>Ayan Agayeva  ·  Berenice Moreno-Perez  ·  Montana Nicholson  ·  Shruthika Uduthuri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640080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 i="0">
                <a:solidFill>
                  <a:srgbClr val="A8BDD0"/>
                </a:solidFill>
                <a:latin typeface="Courier New"/>
              </a:rPr>
              <a:t>CS451R_Software_Engineering_Capstone  |  April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600" b="0" i="0">
                <a:solidFill>
                  <a:srgbClr val="152744"/>
                </a:solidFill>
                <a:latin typeface="Calibri"/>
              </a:rPr>
              <a:t>User Role Permission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52144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0" i="1">
                <a:solidFill>
                  <a:srgbClr val="4A6882"/>
                </a:solidFill>
                <a:latin typeface="Calibri"/>
              </a:rPr>
              <a:t>Who can do what — access levels by household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5</a:t>
            </a:r>
          </a:p>
        </p:txBody>
      </p:sp>
      <p:pic>
        <p:nvPicPr>
          <p:cNvPr id="8" name="Picture 7" descr="diagram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118311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600" b="0" i="0">
                <a:solidFill>
                  <a:srgbClr val="152744"/>
                </a:solidFill>
                <a:latin typeface="Calibri"/>
              </a:rP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52144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0" i="1">
                <a:solidFill>
                  <a:srgbClr val="4A6882"/>
                </a:solidFill>
                <a:latin typeface="Calibri"/>
              </a:rPr>
              <a:t>Full-stack layers — client, server, data, and external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7</a:t>
            </a:r>
          </a:p>
        </p:txBody>
      </p:sp>
      <p:pic>
        <p:nvPicPr>
          <p:cNvPr id="8" name="Picture 7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118311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 b="0" i="0">
                <a:solidFill>
                  <a:srgbClr val="152744"/>
                </a:solidFill>
                <a:latin typeface="Courier New"/>
              </a:rPr>
              <a:t>Team Orion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600" b="0" i="0">
                <a:solidFill>
                  <a:srgbClr val="152744"/>
                </a:solidFill>
                <a:latin typeface="Calibri"/>
              </a:rPr>
              <a:t>User Action Flowcharts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52144"/>
            <a:ext cx="10058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b="0" i="1">
                <a:solidFill>
                  <a:srgbClr val="4A6882"/>
                </a:solidFill>
                <a:latin typeface="Calibri"/>
              </a:rPr>
              <a:t>Flow A: New user onboarding    ·    Flow B: Adding a transaction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1183111" cy="7315"/>
          </a:xfrm>
          <a:prstGeom prst="rect">
            <a:avLst/>
          </a:prstGeom>
          <a:solidFill>
            <a:srgbClr val="6E9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1" cy="7315"/>
          </a:xfrm>
          <a:prstGeom prst="rect">
            <a:avLst/>
          </a:prstGeom>
          <a:solidFill>
            <a:srgbClr val="15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11711" y="6382512"/>
            <a:ext cx="32004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 i="0">
                <a:solidFill>
                  <a:srgbClr val="A8BDD0"/>
                </a:solidFill>
                <a:latin typeface="Courier New"/>
              </a:rPr>
              <a:t>9</a:t>
            </a:r>
          </a:p>
        </p:txBody>
      </p:sp>
      <p:pic>
        <p:nvPicPr>
          <p:cNvPr id="8" name="Picture 7" descr="diagra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1183112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